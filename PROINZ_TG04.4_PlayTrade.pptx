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18"/>
  </p:notesMasterIdLst>
  <p:sldIdLst>
    <p:sldId id="265" r:id="rId3"/>
    <p:sldId id="257" r:id="rId4"/>
    <p:sldId id="266" r:id="rId5"/>
    <p:sldId id="267" r:id="rId6"/>
    <p:sldId id="268" r:id="rId7"/>
    <p:sldId id="259" r:id="rId8"/>
    <p:sldId id="276" r:id="rId9"/>
    <p:sldId id="269" r:id="rId10"/>
    <p:sldId id="277" r:id="rId11"/>
    <p:sldId id="261" r:id="rId12"/>
    <p:sldId id="278" r:id="rId13"/>
    <p:sldId id="275" r:id="rId14"/>
    <p:sldId id="260" r:id="rId15"/>
    <p:sldId id="262" r:id="rId16"/>
    <p:sldId id="26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5" autoAdjust="0"/>
    <p:restoredTop sz="97366" autoAdjust="0"/>
  </p:normalViewPr>
  <p:slideViewPr>
    <p:cSldViewPr snapToGrid="0">
      <p:cViewPr varScale="1">
        <p:scale>
          <a:sx n="70" d="100"/>
          <a:sy n="70" d="100"/>
        </p:scale>
        <p:origin x="64" y="844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4034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noProof="0" dirty="0"/>
              <a:t>PLAYTRADE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 </a:t>
            </a:r>
            <a:r>
              <a:rPr lang="hr-HR" sz="1400" dirty="0"/>
              <a:t>04</a:t>
            </a:r>
            <a:r>
              <a:rPr lang="hr-HR" sz="1400" noProof="0" dirty="0"/>
              <a:t>.</a:t>
            </a:r>
            <a:r>
              <a:rPr lang="hr-HR" sz="1400" dirty="0"/>
              <a:t>4</a:t>
            </a:r>
            <a:r>
              <a:rPr lang="hr-HR" sz="1400" noProof="0" dirty="0"/>
              <a:t> </a:t>
            </a:r>
            <a:r>
              <a:rPr lang="hr-HR" sz="1400" noProof="0" dirty="0" err="1"/>
              <a:t>CodeCartel</a:t>
            </a:r>
            <a:endParaRPr lang="hr-HR" sz="1400" noProof="0" dirty="0"/>
          </a:p>
          <a:p>
            <a:r>
              <a:rPr lang="hr-HR" noProof="0" dirty="0"/>
              <a:t>Ak. god. 2025./2026.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Opis zadatka</a:t>
            </a:r>
          </a:p>
          <a:p>
            <a:r>
              <a:rPr lang="hr-HR" noProof="0" dirty="0"/>
              <a:t>Pregled zahtjeva</a:t>
            </a:r>
          </a:p>
          <a:p>
            <a:r>
              <a:rPr lang="hr-HR" noProof="0" dirty="0"/>
              <a:t>Korišteni alati i tehnologije</a:t>
            </a:r>
          </a:p>
          <a:p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0753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CB0F54-7862-2508-EDB2-877BCE433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Članovi tima</a:t>
            </a:r>
          </a:p>
          <a:p>
            <a:r>
              <a:rPr lang="hr-HR" noProof="0" dirty="0"/>
              <a:t>Cilj projekta</a:t>
            </a:r>
          </a:p>
          <a:p>
            <a:r>
              <a:rPr lang="hr-HR" noProof="0" dirty="0"/>
              <a:t>Analiza i oblikovanje sustava	</a:t>
            </a:r>
          </a:p>
          <a:p>
            <a:pPr lvl="1"/>
            <a:r>
              <a:rPr lang="hr-HR" noProof="0" dirty="0"/>
              <a:t>Zahtjevi</a:t>
            </a:r>
          </a:p>
          <a:p>
            <a:pPr lvl="1"/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1256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Imena članova i odgovornosti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Hrvoje </a:t>
            </a:r>
            <a:r>
              <a:rPr lang="hr-HR" dirty="0" err="1"/>
              <a:t>Jembrek</a:t>
            </a:r>
            <a:r>
              <a:rPr lang="hr-HR" dirty="0"/>
              <a:t> (voditelj) -&gt; </a:t>
            </a:r>
            <a:r>
              <a:rPr lang="hr-HR" dirty="0" err="1"/>
              <a:t>backend</a:t>
            </a:r>
            <a:endParaRPr lang="hr-HR" dirty="0"/>
          </a:p>
          <a:p>
            <a:pPr>
              <a:buFont typeface="Arial" panose="020B0604020202020204" pitchFamily="34" charset="0"/>
              <a:buChar char="•"/>
            </a:pPr>
            <a:r>
              <a:rPr lang="hr-HR" dirty="0" err="1"/>
              <a:t>Fran</a:t>
            </a:r>
            <a:r>
              <a:rPr lang="hr-HR" dirty="0"/>
              <a:t> Račić -&gt; </a:t>
            </a:r>
            <a:r>
              <a:rPr lang="hr-HR" dirty="0" err="1"/>
              <a:t>backend</a:t>
            </a:r>
            <a:endParaRPr lang="hr-HR" dirty="0"/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Andrej Pavić -&gt; </a:t>
            </a:r>
            <a:r>
              <a:rPr lang="hr-HR" dirty="0" err="1"/>
              <a:t>frontend</a:t>
            </a:r>
            <a:endParaRPr lang="hr-HR" dirty="0"/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Matko </a:t>
            </a:r>
            <a:r>
              <a:rPr lang="hr-HR" dirty="0" err="1"/>
              <a:t>Balala</a:t>
            </a:r>
            <a:r>
              <a:rPr lang="hr-HR" dirty="0"/>
              <a:t> -&gt; </a:t>
            </a:r>
            <a:r>
              <a:rPr lang="hr-HR" dirty="0" err="1"/>
              <a:t>frontend</a:t>
            </a:r>
            <a:endParaRPr lang="hr-HR" dirty="0"/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Lovro Priselec -&gt; </a:t>
            </a:r>
            <a:r>
              <a:rPr lang="hr-HR" dirty="0" err="1"/>
              <a:t>backend</a:t>
            </a:r>
            <a:endParaRPr lang="hr-HR" dirty="0"/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Marko Fuček -&gt; </a:t>
            </a:r>
            <a:r>
              <a:rPr lang="hr-HR" dirty="0" err="1"/>
              <a:t>frontend</a:t>
            </a:r>
            <a:endParaRPr lang="hr-HR" dirty="0"/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Nikola Lip-</a:t>
            </a:r>
            <a:r>
              <a:rPr lang="hr-HR" dirty="0" err="1"/>
              <a:t>Nojković</a:t>
            </a:r>
            <a:r>
              <a:rPr lang="hr-HR" dirty="0"/>
              <a:t> -&gt; </a:t>
            </a:r>
            <a:r>
              <a:rPr lang="hr-HR" dirty="0" err="1"/>
              <a:t>frontend</a:t>
            </a:r>
            <a:endParaRPr lang="hr-HR" dirty="0"/>
          </a:p>
          <a:p>
            <a:endParaRPr lang="hr-HR" noProof="0" dirty="0"/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>
            <a:normAutofit/>
          </a:bodyPr>
          <a:lstStyle/>
          <a:p>
            <a:pPr lvl="0"/>
            <a:r>
              <a:rPr lang="sr-Latn-RS" altLang="sr-Latn-RS" dirty="0"/>
              <a:t>Ukratko: </a:t>
            </a:r>
            <a:r>
              <a:rPr lang="hr-HR" altLang="sr-Latn-RS" dirty="0"/>
              <a:t>Aplikacija rješava problem skupih društvenih igara te problem što napraviti s igrama kada nam više nisu zanimljive</a:t>
            </a:r>
            <a:endParaRPr lang="hr-HR" altLang="sr-Latn-RS" b="1" dirty="0"/>
          </a:p>
          <a:p>
            <a:pPr lvl="0"/>
            <a:r>
              <a:rPr lang="hr-HR" altLang="sr-Latn-RS" dirty="0"/>
              <a:t>Cilj: Svrha aplikacije je zamjena društvenih igara sa drugim ljudima, pregled lokacije na kojoj se korisnik nalazi te mogućnost zamjene više igara odjednom</a:t>
            </a:r>
          </a:p>
          <a:p>
            <a:pPr lvl="0"/>
            <a:r>
              <a:rPr lang="hr-HR" altLang="sr-Latn-RS" dirty="0"/>
              <a:t>Aplikacije slična našoj je </a:t>
            </a:r>
            <a:r>
              <a:rPr lang="hr-HR" altLang="sr-Latn-RS" dirty="0" err="1"/>
              <a:t>BoardGamesGeek</a:t>
            </a:r>
            <a:r>
              <a:rPr lang="hr-HR" altLang="sr-Latn-RS" dirty="0"/>
              <a:t> koja je puno kompleksnija što je prednost naše koja je jednostavna za korištenje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 (FUNKCIONALNI)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r-HR" noProof="0" dirty="0"/>
              <a:t>Prijava i registracija u aplikaciju koristeći Google </a:t>
            </a:r>
            <a:r>
              <a:rPr lang="hr-HR" noProof="0" dirty="0" err="1"/>
              <a:t>raču</a:t>
            </a:r>
            <a:r>
              <a:rPr lang="hr-HR" dirty="0"/>
              <a:t>n (</a:t>
            </a:r>
            <a:r>
              <a:rPr lang="hr-HR" dirty="0" err="1"/>
              <a:t>Oauth</a:t>
            </a:r>
            <a:r>
              <a:rPr lang="hr-HR" dirty="0"/>
              <a:t> 2.0)</a:t>
            </a:r>
          </a:p>
          <a:p>
            <a:r>
              <a:rPr lang="hr-HR" noProof="0" dirty="0"/>
              <a:t>Odabir lokacije koristeći </a:t>
            </a:r>
            <a:r>
              <a:rPr lang="hr-HR" noProof="0" dirty="0" err="1"/>
              <a:t>OpenStreetMap</a:t>
            </a:r>
            <a:endParaRPr lang="hr-HR" dirty="0"/>
          </a:p>
          <a:p>
            <a:r>
              <a:rPr lang="hr-HR" noProof="0" dirty="0"/>
              <a:t>Mogućnost dodavanje igre na svoj profil</a:t>
            </a:r>
          </a:p>
          <a:p>
            <a:r>
              <a:rPr lang="hr-HR" dirty="0"/>
              <a:t>Mogućnost objavljivanja igre</a:t>
            </a:r>
          </a:p>
          <a:p>
            <a:r>
              <a:rPr lang="hr-HR" noProof="0" dirty="0"/>
              <a:t>Mogućnost ponude/uređivanja i prihvaćanja/odbijanja zamjene jedne ili više igri</a:t>
            </a:r>
          </a:p>
          <a:p>
            <a:r>
              <a:rPr lang="hr-HR" dirty="0"/>
              <a:t>Mogućnost prijavljivanja objava</a:t>
            </a:r>
          </a:p>
          <a:p>
            <a:r>
              <a:rPr lang="hr-HR" noProof="0" dirty="0"/>
              <a:t>Pregled svih zamjena</a:t>
            </a:r>
          </a:p>
          <a:p>
            <a:r>
              <a:rPr lang="hr-HR" noProof="0" dirty="0"/>
              <a:t>Dodavanje i pregled liste želja</a:t>
            </a:r>
          </a:p>
          <a:p>
            <a:r>
              <a:rPr lang="hr-HR" noProof="0" dirty="0"/>
              <a:t>Slanje obavijesti o ponudi na e-mail</a:t>
            </a:r>
          </a:p>
          <a:p>
            <a:r>
              <a:rPr lang="hr-HR" dirty="0"/>
              <a:t>Pokretanje na različitim uređajima</a:t>
            </a: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B9654-3FA4-0E76-57A5-83A8A67D2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734DA-BD9D-D7C7-79BA-43AD78EB2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 (NEFUNKCIONALNI)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CEDCD-8114-8D9C-427A-83992D071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Kod pisan na način da se može nadograđivati</a:t>
            </a:r>
          </a:p>
          <a:p>
            <a:r>
              <a:rPr lang="hr-HR" dirty="0"/>
              <a:t>Kompatibilnost s JSON formatom</a:t>
            </a:r>
          </a:p>
          <a:p>
            <a:r>
              <a:rPr lang="hr-HR" noProof="0" dirty="0"/>
              <a:t>Mogućnost </a:t>
            </a:r>
            <a:r>
              <a:rPr lang="hr-HR" dirty="0"/>
              <a:t>djelovanja više korisnika u isto vrijeme bez smetnji</a:t>
            </a:r>
          </a:p>
          <a:p>
            <a:r>
              <a:rPr lang="hr-HR" noProof="0" dirty="0"/>
              <a:t>Kompa</a:t>
            </a:r>
            <a:r>
              <a:rPr lang="hr-HR" dirty="0" err="1"/>
              <a:t>tibilnost</a:t>
            </a:r>
            <a:r>
              <a:rPr lang="hr-HR" dirty="0"/>
              <a:t> na svim preglednicima</a:t>
            </a:r>
          </a:p>
          <a:p>
            <a:r>
              <a:rPr lang="hr-HR" noProof="0" dirty="0"/>
              <a:t>Registracija i autentifikacija korisni</a:t>
            </a:r>
            <a:r>
              <a:rPr lang="hr-HR" dirty="0"/>
              <a:t>ka je sigurna</a:t>
            </a:r>
          </a:p>
          <a:p>
            <a:r>
              <a:rPr lang="hr-HR" noProof="0" dirty="0"/>
              <a:t>Ne m</a:t>
            </a:r>
            <a:r>
              <a:rPr lang="hr-HR" dirty="0" err="1"/>
              <a:t>ogućnost</a:t>
            </a:r>
            <a:r>
              <a:rPr lang="hr-HR" dirty="0"/>
              <a:t> rušenja aplikacije</a:t>
            </a:r>
          </a:p>
          <a:p>
            <a:r>
              <a:rPr lang="hr-HR" noProof="0" dirty="0"/>
              <a:t>Jednostavno i intuitivno korisničko sučelje</a:t>
            </a:r>
          </a:p>
          <a:p>
            <a:r>
              <a:rPr lang="hr-HR" noProof="0" dirty="0"/>
              <a:t>Moderan dizajn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B5BE9-2EF8-37F1-97EB-F1D722DDF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804605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 dirty="0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A26FA84E-FEB3-41CC-A437-40686FE15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945" y="990866"/>
            <a:ext cx="3970737" cy="3170270"/>
          </a:xfrm>
          <a:prstGeom prst="rect">
            <a:avLst/>
          </a:prstGeom>
        </p:spPr>
      </p:pic>
      <p:pic>
        <p:nvPicPr>
          <p:cNvPr id="10" name="Slika 9">
            <a:extLst>
              <a:ext uri="{FF2B5EF4-FFF2-40B4-BE49-F238E27FC236}">
                <a16:creationId xmlns:a16="http://schemas.microsoft.com/office/drawing/2014/main" id="{DF22245B-7AA6-F2D9-7FA2-F7046B2057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19" y="4281589"/>
            <a:ext cx="4962525" cy="2419350"/>
          </a:xfrm>
          <a:prstGeom prst="rect">
            <a:avLst/>
          </a:prstGeom>
        </p:spPr>
      </p:pic>
      <p:pic>
        <p:nvPicPr>
          <p:cNvPr id="12" name="Slika 11">
            <a:extLst>
              <a:ext uri="{FF2B5EF4-FFF2-40B4-BE49-F238E27FC236}">
                <a16:creationId xmlns:a16="http://schemas.microsoft.com/office/drawing/2014/main" id="{13B1C842-F869-76CB-FFEF-A5105F33D5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81" y="1079721"/>
            <a:ext cx="3874169" cy="2924869"/>
          </a:xfrm>
          <a:prstGeom prst="rect">
            <a:avLst/>
          </a:prstGeom>
        </p:spPr>
      </p:pic>
      <p:sp>
        <p:nvSpPr>
          <p:cNvPr id="13" name="TekstniOkvir 12">
            <a:extLst>
              <a:ext uri="{FF2B5EF4-FFF2-40B4-BE49-F238E27FC236}">
                <a16:creationId xmlns:a16="http://schemas.microsoft.com/office/drawing/2014/main" id="{57D32187-DFEE-A81E-0CCD-0E9C01161AFC}"/>
              </a:ext>
            </a:extLst>
          </p:cNvPr>
          <p:cNvSpPr txBox="1"/>
          <p:nvPr/>
        </p:nvSpPr>
        <p:spPr>
          <a:xfrm>
            <a:off x="129928" y="4004590"/>
            <a:ext cx="37021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i="1" dirty="0" err="1"/>
              <a:t>Visokorazinski</a:t>
            </a:r>
            <a:r>
              <a:rPr lang="hr-HR" sz="1200" i="1" dirty="0"/>
              <a:t> dijagram obrazaca uporabe sustava</a:t>
            </a:r>
          </a:p>
        </p:txBody>
      </p:sp>
      <p:sp>
        <p:nvSpPr>
          <p:cNvPr id="14" name="TekstniOkvir 13">
            <a:extLst>
              <a:ext uri="{FF2B5EF4-FFF2-40B4-BE49-F238E27FC236}">
                <a16:creationId xmlns:a16="http://schemas.microsoft.com/office/drawing/2014/main" id="{83D7DEF6-4907-42B7-0652-4E4D9E90CFEC}"/>
              </a:ext>
            </a:extLst>
          </p:cNvPr>
          <p:cNvSpPr txBox="1"/>
          <p:nvPr/>
        </p:nvSpPr>
        <p:spPr>
          <a:xfrm>
            <a:off x="4361447" y="4162627"/>
            <a:ext cx="4782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i="1" dirty="0"/>
              <a:t>Dijagram obrasca stvaranja i upravljanja objavama za zamjenu igara</a:t>
            </a:r>
          </a:p>
        </p:txBody>
      </p:sp>
      <p:sp>
        <p:nvSpPr>
          <p:cNvPr id="15" name="TekstniOkvir 14">
            <a:extLst>
              <a:ext uri="{FF2B5EF4-FFF2-40B4-BE49-F238E27FC236}">
                <a16:creationId xmlns:a16="http://schemas.microsoft.com/office/drawing/2014/main" id="{CDD7E919-E996-528E-6ADF-1D66D84D7486}"/>
              </a:ext>
            </a:extLst>
          </p:cNvPr>
          <p:cNvSpPr txBox="1"/>
          <p:nvPr/>
        </p:nvSpPr>
        <p:spPr>
          <a:xfrm>
            <a:off x="5322186" y="6084048"/>
            <a:ext cx="37021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i="1" dirty="0"/>
              <a:t>Dijagram obrasca registracije i prijave korisnika</a:t>
            </a:r>
          </a:p>
        </p:txBody>
      </p:sp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E4B6E-EBBA-EF31-A7FE-A603ED803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1F2A9-D1B9-1649-FCF7-E7A5FC381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3F914-3CD2-083B-6EA6-9898E53DF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 dirty="0"/>
          </a:p>
        </p:txBody>
      </p:sp>
      <p:sp>
        <p:nvSpPr>
          <p:cNvPr id="13" name="TekstniOkvir 12">
            <a:extLst>
              <a:ext uri="{FF2B5EF4-FFF2-40B4-BE49-F238E27FC236}">
                <a16:creationId xmlns:a16="http://schemas.microsoft.com/office/drawing/2014/main" id="{8FCCB71A-261A-1465-8457-83B6B36ED6A4}"/>
              </a:ext>
            </a:extLst>
          </p:cNvPr>
          <p:cNvSpPr txBox="1"/>
          <p:nvPr/>
        </p:nvSpPr>
        <p:spPr>
          <a:xfrm>
            <a:off x="178053" y="6290590"/>
            <a:ext cx="6252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i="1" dirty="0"/>
              <a:t>Sekvencijski dijagram</a:t>
            </a:r>
            <a:br>
              <a:rPr lang="hr-HR" sz="1200" i="1" dirty="0"/>
            </a:br>
            <a:r>
              <a:rPr lang="hr-HR" sz="1200" i="1" dirty="0"/>
              <a:t>Registracija korisnika korištenjem Google računa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1D8071BE-B668-4A6E-9C9E-D582CB0F2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5" y="971597"/>
            <a:ext cx="7447547" cy="531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771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Klijentsko-poslužiteljska s elementima arhitekture</a:t>
            </a:r>
          </a:p>
          <a:p>
            <a:r>
              <a:rPr lang="hr-HR" noProof="0" dirty="0"/>
              <a:t>Slojevi:</a:t>
            </a:r>
            <a:br>
              <a:rPr lang="hr-HR" noProof="0" dirty="0"/>
            </a:br>
            <a:r>
              <a:rPr lang="hr-HR" noProof="0" dirty="0"/>
              <a:t>prezentacijski -&gt; </a:t>
            </a:r>
            <a:r>
              <a:rPr lang="hr-HR" noProof="0" dirty="0" err="1"/>
              <a:t>frontend</a:t>
            </a:r>
            <a:r>
              <a:rPr lang="hr-HR" noProof="0" dirty="0"/>
              <a:t> </a:t>
            </a:r>
            <a:r>
              <a:rPr lang="hr-HR" dirty="0"/>
              <a:t>(</a:t>
            </a:r>
            <a:r>
              <a:rPr lang="hr-HR" dirty="0" err="1"/>
              <a:t>React</a:t>
            </a:r>
            <a:r>
              <a:rPr lang="hr-HR" dirty="0"/>
              <a:t>)</a:t>
            </a:r>
            <a:br>
              <a:rPr lang="hr-HR" dirty="0"/>
            </a:br>
            <a:r>
              <a:rPr lang="hr-HR" dirty="0"/>
              <a:t>poslovni -&gt; </a:t>
            </a:r>
            <a:r>
              <a:rPr lang="hr-HR" dirty="0" err="1"/>
              <a:t>backend</a:t>
            </a:r>
            <a:r>
              <a:rPr lang="hr-HR" dirty="0"/>
              <a:t> (</a:t>
            </a:r>
            <a:r>
              <a:rPr lang="hr-HR" dirty="0" err="1"/>
              <a:t>Django</a:t>
            </a:r>
            <a:r>
              <a:rPr lang="hr-HR" dirty="0"/>
              <a:t>)</a:t>
            </a:r>
            <a:br>
              <a:rPr lang="hr-HR" dirty="0"/>
            </a:br>
            <a:r>
              <a:rPr lang="hr-HR" dirty="0"/>
              <a:t>podatkovni -&gt; </a:t>
            </a:r>
            <a:r>
              <a:rPr lang="hr-HR" dirty="0" err="1"/>
              <a:t>PostgreSQL</a:t>
            </a:r>
            <a:r>
              <a:rPr lang="hr-HR" dirty="0"/>
              <a:t> baza </a:t>
            </a:r>
            <a:r>
              <a:rPr lang="hr-HR" dirty="0" err="1"/>
              <a:t>podata</a:t>
            </a:r>
            <a:r>
              <a:rPr lang="hr-HR" dirty="0"/>
              <a:t> (</a:t>
            </a:r>
            <a:r>
              <a:rPr lang="hr-HR" dirty="0" err="1"/>
              <a:t>Django</a:t>
            </a:r>
            <a:r>
              <a:rPr lang="hr-HR" dirty="0"/>
              <a:t> ORM)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D80D8-6E40-6D54-6B1C-D3A857F19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288D5-AD09-481B-AA63-09A8E82C7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1D6EB-7D01-5DC3-7D9C-CB7DB6EE4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 dirty="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4C398022-7E5F-6060-454D-9FBAAAC0D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000"/>
          <a:stretch>
            <a:fillRect/>
          </a:stretch>
        </p:blipFill>
        <p:spPr>
          <a:xfrm>
            <a:off x="119684" y="900750"/>
            <a:ext cx="6912863" cy="5600288"/>
          </a:xfrm>
          <a:prstGeom prst="rect">
            <a:avLst/>
          </a:prstGeom>
        </p:spPr>
      </p:pic>
      <p:sp>
        <p:nvSpPr>
          <p:cNvPr id="8" name="TekstniOkvir 7">
            <a:extLst>
              <a:ext uri="{FF2B5EF4-FFF2-40B4-BE49-F238E27FC236}">
                <a16:creationId xmlns:a16="http://schemas.microsoft.com/office/drawing/2014/main" id="{5D3F8913-8358-628B-4AD3-88E70A4D6BE7}"/>
              </a:ext>
            </a:extLst>
          </p:cNvPr>
          <p:cNvSpPr txBox="1"/>
          <p:nvPr/>
        </p:nvSpPr>
        <p:spPr>
          <a:xfrm>
            <a:off x="119684" y="6501038"/>
            <a:ext cx="37021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i="1" dirty="0"/>
              <a:t>Dijagram razreda</a:t>
            </a:r>
          </a:p>
        </p:txBody>
      </p:sp>
    </p:spTree>
    <p:extLst>
      <p:ext uri="{BB962C8B-B14F-4D97-AF65-F5344CB8AC3E}">
        <p14:creationId xmlns:p14="http://schemas.microsoft.com/office/powerpoint/2010/main" val="3965654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Ispitivanje je bilo podijeljeno u dva dijela</a:t>
            </a:r>
            <a:br>
              <a:rPr lang="hr-HR" noProof="0" dirty="0"/>
            </a:br>
            <a:r>
              <a:rPr lang="hr-HR" noProof="0" dirty="0" err="1"/>
              <a:t>backend</a:t>
            </a:r>
            <a:r>
              <a:rPr lang="hr-HR" noProof="0" dirty="0"/>
              <a:t> -&gt; </a:t>
            </a:r>
            <a:r>
              <a:rPr lang="hr-HR" noProof="0" dirty="0" err="1"/>
              <a:t>korsiteći</a:t>
            </a:r>
            <a:r>
              <a:rPr lang="hr-HR" noProof="0" dirty="0"/>
              <a:t> </a:t>
            </a:r>
            <a:r>
              <a:rPr lang="hr-HR" noProof="0" dirty="0" err="1"/>
              <a:t>Django</a:t>
            </a:r>
            <a:r>
              <a:rPr lang="hr-HR" noProof="0" dirty="0"/>
              <a:t> </a:t>
            </a:r>
            <a:r>
              <a:rPr lang="hr-HR" noProof="0" dirty="0" err="1"/>
              <a:t>TestAPI</a:t>
            </a:r>
            <a:br>
              <a:rPr lang="hr-HR" dirty="0"/>
            </a:br>
            <a:r>
              <a:rPr lang="hr-HR" dirty="0" err="1"/>
              <a:t>frontend</a:t>
            </a:r>
            <a:r>
              <a:rPr lang="hr-HR" dirty="0"/>
              <a:t> -&gt; koristeći </a:t>
            </a:r>
            <a:r>
              <a:rPr lang="hr-HR" dirty="0" err="1"/>
              <a:t>Selenium</a:t>
            </a:r>
            <a:endParaRPr lang="hr-HR" dirty="0"/>
          </a:p>
          <a:p>
            <a:r>
              <a:rPr lang="hr-HR" dirty="0"/>
              <a:t>Vrste testova</a:t>
            </a:r>
            <a:br>
              <a:rPr lang="hr-HR" dirty="0"/>
            </a:br>
            <a:r>
              <a:rPr lang="hr-HR" dirty="0" err="1"/>
              <a:t>unit</a:t>
            </a:r>
            <a:r>
              <a:rPr lang="hr-HR" dirty="0"/>
              <a:t> testovi</a:t>
            </a:r>
            <a:br>
              <a:rPr lang="hr-HR" dirty="0"/>
            </a:br>
            <a:r>
              <a:rPr lang="hr-HR" dirty="0"/>
              <a:t>integracijski testovi</a:t>
            </a:r>
            <a:br>
              <a:rPr lang="hr-HR" dirty="0"/>
            </a:br>
            <a:r>
              <a:rPr lang="hr-HR" dirty="0"/>
              <a:t>ispitivanje sustava</a:t>
            </a:r>
          </a:p>
          <a:p>
            <a:endParaRPr lang="hr-HR" noProof="0" dirty="0"/>
          </a:p>
          <a:p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  <p:pic>
        <p:nvPicPr>
          <p:cNvPr id="6" name="Slika 5" descr="Slika na kojoj se prikazuje tekst, snimka zaslona, broj, Font">
            <a:extLst>
              <a:ext uri="{FF2B5EF4-FFF2-40B4-BE49-F238E27FC236}">
                <a16:creationId xmlns:a16="http://schemas.microsoft.com/office/drawing/2014/main" id="{05BE27E2-2C9C-FD9A-0ED0-A69F55BAF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07" y="1017981"/>
            <a:ext cx="5744161" cy="532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Neprogramski (organizacijski) zadaci</a:t>
            </a:r>
          </a:p>
          <a:p>
            <a:pPr lvl="1"/>
            <a:r>
              <a:rPr lang="hr-HR" noProof="0" dirty="0"/>
              <a:t>Sastanci svaka 2 tjedna te razgovor na dnevnoj bazi osobe koje rade ne zajedničkom problemu</a:t>
            </a:r>
          </a:p>
          <a:p>
            <a:pPr lvl="1"/>
            <a:r>
              <a:rPr lang="hr-HR" dirty="0"/>
              <a:t>Podjela posla na </a:t>
            </a:r>
            <a:r>
              <a:rPr lang="hr-HR" dirty="0" err="1"/>
              <a:t>backend</a:t>
            </a:r>
            <a:r>
              <a:rPr lang="hr-HR" dirty="0"/>
              <a:t> i </a:t>
            </a:r>
            <a:r>
              <a:rPr lang="hr-HR" dirty="0" err="1"/>
              <a:t>frontend</a:t>
            </a:r>
            <a:r>
              <a:rPr lang="hr-HR" dirty="0"/>
              <a:t> te pisanje dokumentacije po dogovoru</a:t>
            </a:r>
            <a:endParaRPr lang="hr-HR" noProof="0" dirty="0"/>
          </a:p>
          <a:p>
            <a:pPr marL="457200" lvl="1" indent="0">
              <a:buNone/>
            </a:pP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14</a:t>
            </a:fld>
            <a:endParaRPr lang="hr-HR" dirty="0"/>
          </a:p>
        </p:txBody>
      </p:sp>
      <p:pic>
        <p:nvPicPr>
          <p:cNvPr id="6" name="Slika 5" descr="Slika na kojoj se prikazuje dijagram, crta, Trokut, tekst&#10;&#10;Sadržaj generiran uz AI možda nije točan.">
            <a:extLst>
              <a:ext uri="{FF2B5EF4-FFF2-40B4-BE49-F238E27FC236}">
                <a16:creationId xmlns:a16="http://schemas.microsoft.com/office/drawing/2014/main" id="{47707496-F389-C13B-B636-AA136DDB2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74" y="3531247"/>
            <a:ext cx="5029200" cy="296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223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Naučili smo:</a:t>
            </a:r>
            <a:br>
              <a:rPr lang="hr-HR" noProof="0" dirty="0"/>
            </a:br>
            <a:r>
              <a:rPr lang="hr-HR" noProof="0" dirty="0"/>
              <a:t>koristiti nove alate</a:t>
            </a:r>
            <a:br>
              <a:rPr lang="hr-HR" noProof="0" dirty="0"/>
            </a:br>
            <a:r>
              <a:rPr lang="hr-HR" noProof="0" dirty="0"/>
              <a:t>raditi na projektu u timu</a:t>
            </a:r>
            <a:br>
              <a:rPr lang="hr-HR" noProof="0" dirty="0"/>
            </a:br>
            <a:r>
              <a:rPr lang="hr-HR" noProof="0" dirty="0"/>
              <a:t>komunicirati sa kolegama koji rade s nama</a:t>
            </a:r>
            <a:br>
              <a:rPr lang="hr-HR" noProof="0" dirty="0"/>
            </a:br>
            <a:r>
              <a:rPr lang="hr-HR" noProof="0" dirty="0"/>
              <a:t>organizirati se</a:t>
            </a:r>
          </a:p>
          <a:p>
            <a:endParaRPr lang="hr-HR" dirty="0">
              <a:sym typeface="Wingdings" panose="05000000000000000000" pitchFamily="2" charset="2"/>
            </a:endParaRPr>
          </a:p>
          <a:p>
            <a:r>
              <a:rPr lang="hr-HR" noProof="0" dirty="0">
                <a:sym typeface="Wingdings" panose="05000000000000000000" pitchFamily="2" charset="2"/>
              </a:rPr>
              <a:t>Izazovi:</a:t>
            </a:r>
            <a:br>
              <a:rPr lang="hr-HR" noProof="0" dirty="0">
                <a:sym typeface="Wingdings" panose="05000000000000000000" pitchFamily="2" charset="2"/>
              </a:rPr>
            </a:br>
            <a:r>
              <a:rPr lang="hr-HR" noProof="0" dirty="0">
                <a:sym typeface="Wingdings" panose="05000000000000000000" pitchFamily="2" charset="2"/>
              </a:rPr>
              <a:t>nove i nepoznate tehnologije</a:t>
            </a:r>
            <a:br>
              <a:rPr lang="hr-HR" noProof="0" dirty="0">
                <a:sym typeface="Wingdings" panose="05000000000000000000" pitchFamily="2" charset="2"/>
              </a:rPr>
            </a:br>
            <a:r>
              <a:rPr lang="hr-HR" noProof="0" dirty="0">
                <a:sym typeface="Wingdings" panose="05000000000000000000" pitchFamily="2" charset="2"/>
              </a:rPr>
              <a:t>rad u ekipi</a:t>
            </a:r>
            <a:br>
              <a:rPr lang="hr-HR" noProof="0" dirty="0">
                <a:sym typeface="Wingdings" panose="05000000000000000000" pitchFamily="2" charset="2"/>
              </a:rPr>
            </a:br>
            <a:r>
              <a:rPr lang="hr-HR" noProof="0" dirty="0">
                <a:sym typeface="Wingdings" panose="05000000000000000000" pitchFamily="2" charset="2"/>
              </a:rPr>
              <a:t>vremenska ograničenja</a:t>
            </a:r>
          </a:p>
          <a:p>
            <a:pPr lvl="1"/>
            <a:endParaRPr lang="hr-HR" noProof="0" dirty="0">
              <a:sym typeface="Wingdings" panose="05000000000000000000" pitchFamily="2" charset="2"/>
            </a:endParaRP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1423</TotalTime>
  <Words>467</Words>
  <Application>Microsoft Office PowerPoint</Application>
  <PresentationFormat>Prikaz na zaslonu (4:3)</PresentationFormat>
  <Paragraphs>94</Paragraphs>
  <Slides>15</Slides>
  <Notes>4</Notes>
  <HiddenSlides>0</HiddenSlides>
  <MMClips>0</MMClips>
  <ScaleCrop>false</ScaleCrop>
  <HeadingPairs>
    <vt:vector size="6" baseType="variant">
      <vt:variant>
        <vt:lpstr>Korišteni fontovi</vt:lpstr>
      </vt:variant>
      <vt:variant>
        <vt:i4>12</vt:i4>
      </vt:variant>
      <vt:variant>
        <vt:lpstr>Tema</vt:lpstr>
      </vt:variant>
      <vt:variant>
        <vt:i4>2</vt:i4>
      </vt:variant>
      <vt:variant>
        <vt:lpstr>Naslovi slajdova</vt:lpstr>
      </vt:variant>
      <vt:variant>
        <vt:i4>15</vt:i4>
      </vt:variant>
    </vt:vector>
  </HeadingPairs>
  <TitlesOfParts>
    <vt:vector size="29" baseType="lpstr">
      <vt:lpstr>ＭＳ Ｐゴシック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PLAYTRADE</vt:lpstr>
      <vt:lpstr>Sadržaj</vt:lpstr>
      <vt:lpstr>Sadržaj</vt:lpstr>
      <vt:lpstr>Članovi grupe</vt:lpstr>
      <vt:lpstr>O projektu</vt:lpstr>
      <vt:lpstr>Pregled zahtjeva (FUNKCIONALNI)</vt:lpstr>
      <vt:lpstr>Pregled zahtjeva (NEFUNKCIONALNI)</vt:lpstr>
      <vt:lpstr>UML dijagram obrazaca uporabe</vt:lpstr>
      <vt:lpstr>UML dijagram obrazaca uporabe</vt:lpstr>
      <vt:lpstr>Arhitektura sustava</vt:lpstr>
      <vt:lpstr>Arhitektura sustava</vt:lpstr>
      <vt:lpstr>Ispitivanje</vt:lpstr>
      <vt:lpstr>Korišteni alati i tehnologije</vt:lpstr>
      <vt:lpstr>Organizacija rada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Lovro Priselec</cp:lastModifiedBy>
  <cp:revision>24</cp:revision>
  <dcterms:created xsi:type="dcterms:W3CDTF">2016-01-18T13:10:52Z</dcterms:created>
  <dcterms:modified xsi:type="dcterms:W3CDTF">2026-01-23T21:03:08Z</dcterms:modified>
</cp:coreProperties>
</file>